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3D7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9601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0F6FF"/>
                </a:solidFill>
                <a:latin typeface="Aptos"/>
              </a:rPr>
              <a:t>Working and Connections of 3-Axis MEMS Gyroscope &amp; Mixed Step-Down Transformer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01168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ABB8CB"/>
                </a:solidFill>
                <a:latin typeface="Aptos"/>
              </a:rPr>
              <a:t>Precision Sensing and Power Regulation in Modern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9436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63BFDB"/>
                </a:solidFill>
                <a:latin typeface="Aptos"/>
              </a:rPr>
              <a:t>Presenter Name: [Your Name]</a:t>
            </a:r>
          </a:p>
        </p:txBody>
      </p:sp>
      <p:sp>
        <p:nvSpPr>
          <p:cNvPr id="6" name="Rectangle 5"/>
          <p:cNvSpPr/>
          <p:nvPr/>
        </p:nvSpPr>
        <p:spPr>
          <a:xfrm>
            <a:off x="8503920" y="1645920"/>
            <a:ext cx="2743200" cy="3474720"/>
          </a:xfrm>
          <a:prstGeom prst="rect">
            <a:avLst/>
          </a:prstGeom>
          <a:solidFill>
            <a:srgbClr val="152334"/>
          </a:solidFill>
          <a:ln w="19050">
            <a:solidFill>
              <a:srgbClr val="63BF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869680" y="2194560"/>
            <a:ext cx="320040" cy="320040"/>
          </a:xfrm>
          <a:prstGeom prst="ellipse">
            <a:avLst/>
          </a:prstGeom>
          <a:solidFill>
            <a:srgbClr val="3DB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784080" y="2194560"/>
            <a:ext cx="320040" cy="320040"/>
          </a:xfrm>
          <a:prstGeom prst="ellipse">
            <a:avLst/>
          </a:prstGeom>
          <a:solidFill>
            <a:srgbClr val="3DB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698480" y="2194560"/>
            <a:ext cx="320040" cy="320040"/>
          </a:xfrm>
          <a:prstGeom prst="ellipse">
            <a:avLst/>
          </a:prstGeom>
          <a:solidFill>
            <a:srgbClr val="3DB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235440" y="3017520"/>
            <a:ext cx="1645920" cy="1097280"/>
          </a:xfrm>
          <a:prstGeom prst="rect">
            <a:avLst/>
          </a:prstGeom>
          <a:solidFill>
            <a:srgbClr val="F6B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81160" y="3346704"/>
            <a:ext cx="1554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A1423"/>
                </a:solidFill>
                <a:latin typeface="Aptos"/>
              </a:rPr>
              <a:t>Transformer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3D7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3D7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0F6FF"/>
                </a:solidFill>
                <a:latin typeface="Aptos"/>
              </a:rPr>
              <a:t>Overview of Components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25880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>
                <a:solidFill>
                  <a:srgbClr val="ABB8CB"/>
                </a:solidFill>
                <a:latin typeface="Aptos"/>
              </a:rPr>
              <a:t>The sensor and power unit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212080" cy="3474720"/>
          </a:xfrm>
          <a:prstGeom prst="roundRect">
            <a:avLst/>
          </a:prstGeom>
          <a:solidFill>
            <a:srgbClr val="152334"/>
          </a:solidFill>
          <a:ln w="15240">
            <a:solidFill>
              <a:srgbClr val="3D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38528"/>
            <a:ext cx="48463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F0F6FF"/>
                </a:solidFill>
                <a:latin typeface="Aptos"/>
              </a:rPr>
              <a:t>The Sensor: 3-Axis MEMS Digital Gyroscope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31720"/>
            <a:ext cx="4754880" cy="2724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F0F6FF"/>
                </a:solidFill>
                <a:latin typeface="Aptos"/>
              </a:rPr>
              <a:t>Detects angular velocity on X, Y, and Z axes.</a:t>
            </a:r>
          </a:p>
          <a:p>
            <a:pPr algn="l"/>
            <a:r>
              <a:rPr sz="1400">
                <a:solidFill>
                  <a:srgbClr val="F0F6FF"/>
                </a:solidFill>
                <a:latin typeface="Aptos"/>
              </a:rPr>
              <a:t>Essential for drones, stabilization, and gaming.</a:t>
            </a:r>
          </a:p>
          <a:p>
            <a:pPr algn="l"/>
            <a:r>
              <a:rPr sz="1400">
                <a:solidFill>
                  <a:srgbClr val="F0F6FF"/>
                </a:solidFill>
                <a:latin typeface="Aptos"/>
              </a:rPr>
              <a:t>Measures rotational motion precisely in real time.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828800"/>
            <a:ext cx="5029200" cy="3474720"/>
          </a:xfrm>
          <a:prstGeom prst="roundRect">
            <a:avLst/>
          </a:prstGeom>
          <a:solidFill>
            <a:srgbClr val="152334"/>
          </a:solidFill>
          <a:ln w="15240">
            <a:solidFill>
              <a:srgbClr val="3D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938528"/>
            <a:ext cx="46634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F0F6FF"/>
                </a:solidFill>
                <a:latin typeface="Aptos"/>
              </a:rPr>
              <a:t>The Power/Actuator Component: Mixed Step-Down Transformer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331720"/>
            <a:ext cx="4572000" cy="2724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F0F6FF"/>
                </a:solidFill>
                <a:latin typeface="Aptos"/>
              </a:rPr>
              <a:t>Converts high-voltage AC into multiple lower-voltage AC outputs.</a:t>
            </a:r>
          </a:p>
          <a:p>
            <a:pPr algn="l"/>
            <a:r>
              <a:rPr sz="1400">
                <a:solidFill>
                  <a:srgbClr val="F0F6FF"/>
                </a:solidFill>
                <a:latin typeface="Aptos"/>
              </a:rPr>
              <a:t>Provides the energy source for the control system.</a:t>
            </a:r>
          </a:p>
          <a:p>
            <a:pPr algn="l"/>
            <a:r>
              <a:rPr sz="1400">
                <a:solidFill>
                  <a:srgbClr val="F0F6FF"/>
                </a:solidFill>
                <a:latin typeface="Aptos"/>
              </a:rPr>
              <a:t>Supports different voltage levels for connected devices.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80160" y="5029200"/>
            <a:ext cx="1737360" cy="822960"/>
          </a:xfrm>
          <a:prstGeom prst="rect">
            <a:avLst/>
          </a:prstGeom>
          <a:solidFill>
            <a:srgbClr val="3D7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5212080"/>
            <a:ext cx="1554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0F6FF"/>
                </a:solidFill>
                <a:latin typeface="Aptos"/>
              </a:rPr>
              <a:t>MEMS IC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0" y="5029200"/>
            <a:ext cx="2194560" cy="822960"/>
          </a:xfrm>
          <a:prstGeom prst="rect">
            <a:avLst/>
          </a:prstGeom>
          <a:solidFill>
            <a:srgbClr val="F6B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0" y="5212080"/>
            <a:ext cx="1737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A1423"/>
                </a:solidFill>
                <a:latin typeface="Aptos"/>
              </a:rPr>
              <a:t>Multi-tap Transformer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3D7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3D7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0F6FF"/>
                </a:solidFill>
                <a:latin typeface="Aptos"/>
              </a:rPr>
              <a:t>Working of 3-Axis MEMS Gyroscope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25880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>
                <a:solidFill>
                  <a:srgbClr val="ABB8CB"/>
                </a:solidFill>
                <a:latin typeface="Aptos"/>
              </a:rPr>
              <a:t>Core principle is the Coriolis Effect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486400" cy="3657600"/>
          </a:xfrm>
          <a:prstGeom prst="roundRect">
            <a:avLst/>
          </a:prstGeom>
          <a:solidFill>
            <a:srgbClr val="152334"/>
          </a:solidFill>
          <a:ln w="15240">
            <a:solidFill>
              <a:srgbClr val="3D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38528"/>
            <a:ext cx="51206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F0F6FF"/>
                </a:solidFill>
                <a:latin typeface="Aptos"/>
              </a:rPr>
              <a:t>Principle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31720"/>
            <a:ext cx="5029200" cy="2907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F0F6FF"/>
                </a:solidFill>
                <a:latin typeface="Aptos"/>
              </a:rPr>
              <a:t>The Coriolis Effect is the core operating principle.</a:t>
            </a:r>
          </a:p>
          <a:p>
            <a:pPr algn="l"/>
            <a:r>
              <a:rPr sz="1400">
                <a:solidFill>
                  <a:srgbClr val="F0F6FF"/>
                </a:solidFill>
                <a:latin typeface="Aptos"/>
              </a:rPr>
              <a:t>Tiny silicon structures vibrate at a high frequency inside the chip.</a:t>
            </a:r>
          </a:p>
          <a:p>
            <a:pPr algn="l"/>
            <a:r>
              <a:rPr sz="1400">
                <a:solidFill>
                  <a:srgbClr val="F0F6FF"/>
                </a:solidFill>
                <a:latin typeface="Aptos"/>
              </a:rPr>
              <a:t>When the device rotates, Coriolis force causes a displacement of these structures.</a:t>
            </a:r>
          </a:p>
          <a:p>
            <a:pPr algn="l"/>
            <a:r>
              <a:rPr sz="1400">
                <a:solidFill>
                  <a:srgbClr val="F0F6FF"/>
                </a:solidFill>
                <a:latin typeface="Aptos"/>
              </a:rPr>
              <a:t>This movement changes electrical capacitance between the moving and fixed parts.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1828800"/>
            <a:ext cx="4846320" cy="3657600"/>
          </a:xfrm>
          <a:prstGeom prst="roundRect">
            <a:avLst/>
          </a:prstGeom>
          <a:solidFill>
            <a:srgbClr val="152334"/>
          </a:solidFill>
          <a:ln w="15240">
            <a:solidFill>
              <a:srgbClr val="3D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0" y="1938528"/>
            <a:ext cx="44805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F0F6FF"/>
                </a:solidFill>
                <a:latin typeface="Aptos"/>
              </a:rPr>
              <a:t>Output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2331720"/>
            <a:ext cx="4389120" cy="2907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F0F6FF"/>
                </a:solidFill>
                <a:latin typeface="Aptos"/>
              </a:rPr>
              <a:t>The capacitance variation is converted by an onboard ASIC.</a:t>
            </a:r>
          </a:p>
          <a:p>
            <a:pPr algn="l"/>
            <a:r>
              <a:rPr sz="1400">
                <a:solidFill>
                  <a:srgbClr val="F0F6FF"/>
                </a:solidFill>
                <a:latin typeface="Aptos"/>
              </a:rPr>
              <a:t>Digital data is generated as angular velocity values in degrees/sec.</a:t>
            </a:r>
          </a:p>
          <a:p>
            <a:pPr algn="l"/>
            <a:r>
              <a:rPr sz="1400">
                <a:solidFill>
                  <a:srgbClr val="F0F6FF"/>
                </a:solidFill>
                <a:latin typeface="Aptos"/>
              </a:rPr>
              <a:t>These values are used to detect rotation on the X, Y, and Z axes.</a:t>
            </a:r>
          </a:p>
          <a:p>
            <a:pPr algn="l"/>
            <a:r>
              <a:rPr sz="1400">
                <a:solidFill>
                  <a:srgbClr val="F0F6FF"/>
                </a:solidFill>
                <a:latin typeface="Aptos"/>
              </a:rPr>
              <a:t>The result is precise orientation and stabilization feedback.</a:t>
            </a:r>
          </a:p>
        </p:txBody>
      </p:sp>
      <p:sp>
        <p:nvSpPr>
          <p:cNvPr id="12" name="Chevron 11"/>
          <p:cNvSpPr/>
          <p:nvPr/>
        </p:nvSpPr>
        <p:spPr>
          <a:xfrm>
            <a:off x="2926080" y="4572000"/>
            <a:ext cx="2011680" cy="822960"/>
          </a:xfrm>
          <a:prstGeom prst="chevron">
            <a:avLst/>
          </a:prstGeom>
          <a:solidFill>
            <a:srgbClr val="3D7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0F6FF"/>
                </a:solidFill>
                <a:latin typeface="Aptos"/>
              </a:rPr>
              <a:t>Proof Mass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029200" y="4709160"/>
            <a:ext cx="1097280" cy="457200"/>
          </a:xfrm>
          <a:prstGeom prst="rightArrow">
            <a:avLst/>
          </a:prstGeom>
          <a:solidFill>
            <a:srgbClr val="3DB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475488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F6BE63"/>
                </a:solidFill>
                <a:latin typeface="Aptos"/>
              </a:rPr>
              <a:t>Coriolis Force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3D7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3D7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0F6FF"/>
                </a:solidFill>
                <a:latin typeface="Aptos"/>
              </a:rPr>
              <a:t>Connections of the MEMS Gyroscope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25880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>
                <a:solidFill>
                  <a:srgbClr val="ABB8CB"/>
                </a:solidFill>
                <a:latin typeface="Aptos"/>
              </a:rPr>
              <a:t>Most digital gyroscopes use I2C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120640" cy="3474720"/>
          </a:xfrm>
          <a:prstGeom prst="roundRect">
            <a:avLst/>
          </a:prstGeom>
          <a:solidFill>
            <a:srgbClr val="152334"/>
          </a:solidFill>
          <a:ln w="15240">
            <a:solidFill>
              <a:srgbClr val="3D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38528"/>
            <a:ext cx="47548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F0F6FF"/>
                </a:solidFill>
                <a:latin typeface="Aptos"/>
              </a:rPr>
              <a:t>Pin Functions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31720"/>
            <a:ext cx="4663440" cy="2724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F0F6FF"/>
                </a:solidFill>
                <a:latin typeface="Aptos"/>
              </a:rPr>
              <a:t>VCC: Power input (3.3V or 5V DC).</a:t>
            </a:r>
          </a:p>
          <a:p>
            <a:pPr algn="l"/>
            <a:r>
              <a:rPr sz="1400">
                <a:solidFill>
                  <a:srgbClr val="F0F6FF"/>
                </a:solidFill>
                <a:latin typeface="Aptos"/>
              </a:rPr>
              <a:t>GND: Ground reference.</a:t>
            </a:r>
          </a:p>
          <a:p>
            <a:pPr algn="l"/>
            <a:r>
              <a:rPr sz="1400">
                <a:solidFill>
                  <a:srgbClr val="F0F6FF"/>
                </a:solidFill>
                <a:latin typeface="Aptos"/>
              </a:rPr>
              <a:t>SCL: Serial clock signal for synchronization.</a:t>
            </a:r>
          </a:p>
          <a:p>
            <a:pPr algn="l"/>
            <a:r>
              <a:rPr sz="1400">
                <a:solidFill>
                  <a:srgbClr val="F0F6FF"/>
                </a:solidFill>
                <a:latin typeface="Aptos"/>
              </a:rPr>
              <a:t>SDA: Serial data line for sensor output.</a:t>
            </a:r>
          </a:p>
          <a:p>
            <a:pPr algn="l"/>
            <a:r>
              <a:rPr sz="1400">
                <a:solidFill>
                  <a:srgbClr val="F0F6FF"/>
                </a:solidFill>
                <a:latin typeface="Aptos"/>
              </a:rPr>
              <a:t>AD0: Address select pin for multiple sensors.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0" y="2011680"/>
            <a:ext cx="4389120" cy="3200400"/>
          </a:xfrm>
          <a:prstGeom prst="rect">
            <a:avLst/>
          </a:prstGeom>
          <a:solidFill>
            <a:srgbClr val="152334"/>
          </a:solidFill>
          <a:ln w="15240">
            <a:solidFill>
              <a:srgbClr val="3D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2834640"/>
            <a:ext cx="1828800" cy="45720"/>
          </a:xfrm>
          <a:prstGeom prst="rect">
            <a:avLst/>
          </a:prstGeom>
          <a:solidFill>
            <a:srgbClr val="ABB8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0" y="3566160"/>
            <a:ext cx="1828800" cy="45720"/>
          </a:xfrm>
          <a:prstGeom prst="rect">
            <a:avLst/>
          </a:prstGeom>
          <a:solidFill>
            <a:srgbClr val="ABB8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0" y="4297680"/>
            <a:ext cx="1828800" cy="45720"/>
          </a:xfrm>
          <a:prstGeom prst="rect">
            <a:avLst/>
          </a:prstGeom>
          <a:solidFill>
            <a:srgbClr val="ABB8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418320" y="2651760"/>
            <a:ext cx="1188720" cy="1371600"/>
          </a:xfrm>
          <a:prstGeom prst="rect">
            <a:avLst/>
          </a:prstGeom>
          <a:solidFill>
            <a:srgbClr val="3DB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0" y="3200400"/>
            <a:ext cx="1005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0F6FF"/>
                </a:solidFill>
                <a:latin typeface="Aptos"/>
              </a:rPr>
              <a:t>MCU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06640" y="3017520"/>
            <a:ext cx="1005840" cy="914400"/>
          </a:xfrm>
          <a:prstGeom prst="rect">
            <a:avLst/>
          </a:prstGeom>
          <a:solidFill>
            <a:srgbClr val="63B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52360" y="329184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A1423"/>
                </a:solidFill>
                <a:latin typeface="Aptos"/>
              </a:rPr>
              <a:t>Gyro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5303520"/>
            <a:ext cx="4023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ABB8CB"/>
                </a:solidFill>
                <a:latin typeface="Aptos"/>
              </a:rPr>
              <a:t>SCL  SDA  VCC  GND  AD0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3D7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3D7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0F6FF"/>
                </a:solidFill>
                <a:latin typeface="Aptos"/>
              </a:rPr>
              <a:t>Working of Mixed Step-Down Transformer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25880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>
                <a:solidFill>
                  <a:srgbClr val="ABB8CB"/>
                </a:solidFill>
                <a:latin typeface="Aptos"/>
              </a:rPr>
              <a:t>Based on mutual induction and Faraday’s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486400" cy="3840480"/>
          </a:xfrm>
          <a:prstGeom prst="roundRect">
            <a:avLst/>
          </a:prstGeom>
          <a:solidFill>
            <a:srgbClr val="152334"/>
          </a:solidFill>
          <a:ln w="15240">
            <a:solidFill>
              <a:srgbClr val="3D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38528"/>
            <a:ext cx="51206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F0F6FF"/>
                </a:solidFill>
                <a:latin typeface="Aptos"/>
              </a:rPr>
              <a:t>Operating Principle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31720"/>
            <a:ext cx="5029200" cy="3090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F0F6FF"/>
                </a:solidFill>
                <a:latin typeface="Aptos"/>
              </a:rPr>
              <a:t>Mutual induction is the fundamental concept.</a:t>
            </a:r>
          </a:p>
          <a:p>
            <a:pPr algn="l"/>
            <a:r>
              <a:rPr sz="1400">
                <a:solidFill>
                  <a:srgbClr val="F0F6FF"/>
                </a:solidFill>
                <a:latin typeface="Aptos"/>
              </a:rPr>
              <a:t>AC current in the primary coil creates a magnetic field in the core.</a:t>
            </a:r>
          </a:p>
          <a:p>
            <a:pPr algn="l"/>
            <a:r>
              <a:rPr sz="1400">
                <a:solidFill>
                  <a:srgbClr val="F0F6FF"/>
                </a:solidFill>
                <a:latin typeface="Aptos"/>
              </a:rPr>
              <a:t>This induces a voltage in the secondary coil.</a:t>
            </a:r>
          </a:p>
          <a:p>
            <a:pPr algn="l"/>
            <a:r>
              <a:rPr sz="1400">
                <a:solidFill>
                  <a:srgbClr val="F0F6FF"/>
                </a:solidFill>
                <a:latin typeface="Aptos"/>
              </a:rPr>
              <a:t>A step-down effect occurs because the secondary has fewer turns.</a:t>
            </a:r>
          </a:p>
          <a:p>
            <a:pPr algn="l"/>
            <a:r>
              <a:rPr sz="1400">
                <a:solidFill>
                  <a:srgbClr val="F0F6FF"/>
                </a:solidFill>
                <a:latin typeface="Aptos"/>
              </a:rPr>
              <a:t>A mixed transformer has multiple taps to provide different output voltages.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7589520" y="2194560"/>
            <a:ext cx="3474720" cy="2011680"/>
          </a:xfrm>
          <a:prstGeom prst="rect">
            <a:avLst/>
          </a:prstGeom>
          <a:solidFill>
            <a:srgbClr val="152334"/>
          </a:solidFill>
          <a:ln w="15240">
            <a:solidFill>
              <a:srgbClr val="3D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2560320"/>
            <a:ext cx="548640" cy="1371600"/>
          </a:xfrm>
          <a:prstGeom prst="rect">
            <a:avLst/>
          </a:prstGeom>
          <a:solidFill>
            <a:srgbClr val="F6B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235440" y="2286000"/>
            <a:ext cx="548640" cy="640080"/>
          </a:xfrm>
          <a:prstGeom prst="rect">
            <a:avLst/>
          </a:prstGeom>
          <a:solidFill>
            <a:srgbClr val="3DB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235440" y="3108960"/>
            <a:ext cx="548640" cy="640080"/>
          </a:xfrm>
          <a:prstGeom prst="rect">
            <a:avLst/>
          </a:prstGeom>
          <a:solidFill>
            <a:srgbClr val="3DB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235440" y="3931920"/>
            <a:ext cx="548640" cy="640080"/>
          </a:xfrm>
          <a:prstGeom prst="rect">
            <a:avLst/>
          </a:prstGeom>
          <a:solidFill>
            <a:srgbClr val="3DB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0" y="466344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ABB8CB"/>
                </a:solidFill>
                <a:latin typeface="Aptos"/>
              </a:rPr>
              <a:t>6V  12V  24V taps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3D7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3D7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0F6FF"/>
                </a:solidFill>
                <a:latin typeface="Aptos"/>
              </a:rPr>
              <a:t>Connections of a Mixed Transformer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25880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>
                <a:solidFill>
                  <a:srgbClr val="ABB8CB"/>
                </a:solidFill>
                <a:latin typeface="Aptos"/>
              </a:rPr>
              <a:t>Primary and secondary wiring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303520" cy="3657600"/>
          </a:xfrm>
          <a:prstGeom prst="roundRect">
            <a:avLst/>
          </a:prstGeom>
          <a:solidFill>
            <a:srgbClr val="152334"/>
          </a:solidFill>
          <a:ln w="15240">
            <a:solidFill>
              <a:srgbClr val="3D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38528"/>
            <a:ext cx="49377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F0F6FF"/>
                </a:solidFill>
                <a:latin typeface="Aptos"/>
              </a:rPr>
              <a:t>Primary Side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31720"/>
            <a:ext cx="4846320" cy="2907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F0F6FF"/>
                </a:solidFill>
                <a:latin typeface="Aptos"/>
              </a:rPr>
              <a:t>Connected to the AC mains (110V/220V).</a:t>
            </a:r>
          </a:p>
          <a:p>
            <a:pPr algn="l"/>
            <a:r>
              <a:rPr sz="1400">
                <a:solidFill>
                  <a:srgbClr val="F0F6FF"/>
                </a:solidFill>
                <a:latin typeface="Aptos"/>
              </a:rPr>
              <a:t>This side receives the high-voltage input supply.</a:t>
            </a:r>
          </a:p>
          <a:p>
            <a:pPr algn="l"/>
            <a:r>
              <a:rPr sz="1400">
                <a:solidFill>
                  <a:srgbClr val="F0F6FF"/>
                </a:solidFill>
                <a:latin typeface="Aptos"/>
              </a:rPr>
              <a:t>Proper isolation and insulation are essential for safety.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828800"/>
            <a:ext cx="4937760" cy="3657600"/>
          </a:xfrm>
          <a:prstGeom prst="roundRect">
            <a:avLst/>
          </a:prstGeom>
          <a:solidFill>
            <a:srgbClr val="152334"/>
          </a:solidFill>
          <a:ln w="15240">
            <a:solidFill>
              <a:srgbClr val="3D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938528"/>
            <a:ext cx="45720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F0F6FF"/>
                </a:solidFill>
                <a:latin typeface="Aptos"/>
              </a:rPr>
              <a:t>Secondary Side (Mixed Taps)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331720"/>
            <a:ext cx="4480560" cy="2907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F0F6FF"/>
                </a:solidFill>
                <a:latin typeface="Aptos"/>
              </a:rPr>
              <a:t>0V: common reference / shared ground.</a:t>
            </a:r>
          </a:p>
          <a:p>
            <a:pPr algn="l"/>
            <a:r>
              <a:rPr sz="1400">
                <a:solidFill>
                  <a:srgbClr val="F0F6FF"/>
                </a:solidFill>
                <a:latin typeface="Aptos"/>
              </a:rPr>
              <a:t>Tap 1: e.g., 6V for logic boards and sensors.</a:t>
            </a:r>
          </a:p>
          <a:p>
            <a:pPr algn="l"/>
            <a:r>
              <a:rPr sz="1400">
                <a:solidFill>
                  <a:srgbClr val="F0F6FF"/>
                </a:solidFill>
                <a:latin typeface="Aptos"/>
              </a:rPr>
              <a:t>Tap 2: e.g., 12V for relays or small motors.</a:t>
            </a:r>
          </a:p>
          <a:p>
            <a:pPr algn="l"/>
            <a:r>
              <a:rPr sz="1400">
                <a:solidFill>
                  <a:srgbClr val="F0F6FF"/>
                </a:solidFill>
                <a:latin typeface="Aptos"/>
              </a:rPr>
              <a:t>Fuse: Always use a safety fuse on the primary side.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0320" y="5029200"/>
            <a:ext cx="6949440" cy="731520"/>
          </a:xfrm>
          <a:prstGeom prst="rect">
            <a:avLst/>
          </a:prstGeom>
          <a:solidFill>
            <a:srgbClr val="152334"/>
          </a:solidFill>
          <a:ln w="15240">
            <a:solidFill>
              <a:srgbClr val="3D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0" y="5230368"/>
            <a:ext cx="6217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0F6FF"/>
                </a:solidFill>
                <a:latin typeface="Aptos"/>
              </a:rPr>
              <a:t>Primary AC input  →  Transformer  →  0V / 6V / 12V / 24V taps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3D7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3D7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0F6FF"/>
                </a:solidFill>
                <a:latin typeface="Aptos"/>
              </a:rPr>
              <a:t>Connecting Sensor to Transformer (The Bridge)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25880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>
                <a:solidFill>
                  <a:srgbClr val="ABB8CB"/>
                </a:solidFill>
                <a:latin typeface="Aptos"/>
              </a:rPr>
              <a:t>AC to DC conversion and regulation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029200" cy="3840480"/>
          </a:xfrm>
          <a:prstGeom prst="roundRect">
            <a:avLst/>
          </a:prstGeom>
          <a:solidFill>
            <a:srgbClr val="152334"/>
          </a:solidFill>
          <a:ln w="15240">
            <a:solidFill>
              <a:srgbClr val="3D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38528"/>
            <a:ext cx="46634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F0F6FF"/>
                </a:solidFill>
                <a:latin typeface="Aptos"/>
              </a:rPr>
              <a:t>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31720"/>
            <a:ext cx="4572000" cy="3090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F0F6FF"/>
                </a:solidFill>
                <a:latin typeface="Aptos"/>
              </a:rPr>
              <a:t>The transformer produces AC, but the gyroscope requires DC power.</a:t>
            </a:r>
          </a:p>
          <a:p>
            <a:pPr algn="l"/>
            <a:r>
              <a:rPr sz="1400">
                <a:solidFill>
                  <a:srgbClr val="F0F6FF"/>
                </a:solidFill>
                <a:latin typeface="Aptos"/>
              </a:rPr>
              <a:t>A direct connection would not work for the sensor electronics.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1828800"/>
            <a:ext cx="5303520" cy="3840480"/>
          </a:xfrm>
          <a:prstGeom prst="roundRect">
            <a:avLst/>
          </a:prstGeom>
          <a:solidFill>
            <a:srgbClr val="152334"/>
          </a:solidFill>
          <a:ln w="15240">
            <a:solidFill>
              <a:srgbClr val="3D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1938528"/>
            <a:ext cx="49377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F0F6FF"/>
                </a:solidFill>
                <a:latin typeface="Aptos"/>
              </a:rPr>
              <a:t>Connection Path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331720"/>
            <a:ext cx="4846320" cy="3090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F0F6FF"/>
                </a:solidFill>
                <a:latin typeface="Aptos"/>
              </a:rPr>
              <a:t>Transformer Tap: 6V AC output.</a:t>
            </a:r>
          </a:p>
          <a:p>
            <a:pPr algn="l"/>
            <a:r>
              <a:rPr sz="1400">
                <a:solidFill>
                  <a:srgbClr val="F0F6FF"/>
                </a:solidFill>
                <a:latin typeface="Aptos"/>
              </a:rPr>
              <a:t>Bridge Rectifier: Converts AC into pulsating DC.</a:t>
            </a:r>
          </a:p>
          <a:p>
            <a:pPr algn="l"/>
            <a:r>
              <a:rPr sz="1400">
                <a:solidFill>
                  <a:srgbClr val="F0F6FF"/>
                </a:solidFill>
                <a:latin typeface="Aptos"/>
              </a:rPr>
              <a:t>Filter Capacitor: Smooths the pulsating supply.</a:t>
            </a:r>
          </a:p>
          <a:p>
            <a:pPr algn="l"/>
            <a:r>
              <a:rPr sz="1400">
                <a:solidFill>
                  <a:srgbClr val="F0F6FF"/>
                </a:solidFill>
                <a:latin typeface="Aptos"/>
              </a:rPr>
              <a:t>Voltage Regulator: Provides a steady 5V DC to the gyroscope.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0" y="4846320"/>
            <a:ext cx="5486400" cy="640080"/>
          </a:xfrm>
          <a:prstGeom prst="rect">
            <a:avLst/>
          </a:prstGeom>
          <a:solidFill>
            <a:srgbClr val="152334"/>
          </a:solidFill>
          <a:ln w="15240">
            <a:solidFill>
              <a:srgbClr val="3D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0" y="5047488"/>
            <a:ext cx="5212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0F6FF"/>
                </a:solidFill>
                <a:latin typeface="Aptos"/>
              </a:rPr>
              <a:t>Transformer → Rectifier → Filter Capacitor → Voltage Regulator → MEMS Gyroscope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3D7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3D7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0F6FF"/>
                </a:solidFill>
                <a:latin typeface="Aptos"/>
              </a:rPr>
              <a:t>Practical Application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25880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>
                <a:solidFill>
                  <a:srgbClr val="ABB8CB"/>
                </a:solidFill>
                <a:latin typeface="Aptos"/>
              </a:rPr>
              <a:t>Camera gimbal stabilizer system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029200" cy="3474720"/>
          </a:xfrm>
          <a:prstGeom prst="roundRect">
            <a:avLst/>
          </a:prstGeom>
          <a:solidFill>
            <a:srgbClr val="152334"/>
          </a:solidFill>
          <a:ln w="15240">
            <a:solidFill>
              <a:srgbClr val="3D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38528"/>
            <a:ext cx="46634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F0F6FF"/>
                </a:solidFill>
                <a:latin typeface="Aptos"/>
              </a:rPr>
              <a:t>System Role of Transformer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31720"/>
            <a:ext cx="4572000" cy="2724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F0F6FF"/>
                </a:solidFill>
                <a:latin typeface="Aptos"/>
              </a:rPr>
              <a:t>Powers motors and the control board.</a:t>
            </a:r>
          </a:p>
          <a:p>
            <a:pPr algn="l"/>
            <a:r>
              <a:rPr sz="1400">
                <a:solidFill>
                  <a:srgbClr val="F0F6FF"/>
                </a:solidFill>
                <a:latin typeface="Aptos"/>
              </a:rPr>
              <a:t>Provides stable source voltages for multiple functions.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828800"/>
            <a:ext cx="5120640" cy="3474720"/>
          </a:xfrm>
          <a:prstGeom prst="roundRect">
            <a:avLst/>
          </a:prstGeom>
          <a:solidFill>
            <a:srgbClr val="152334"/>
          </a:solidFill>
          <a:ln w="15240">
            <a:solidFill>
              <a:srgbClr val="3D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938528"/>
            <a:ext cx="47548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F0F6FF"/>
                </a:solidFill>
                <a:latin typeface="Aptos"/>
              </a:rPr>
              <a:t>System Role of Gyroscope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663440" cy="2724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F0F6FF"/>
                </a:solidFill>
                <a:latin typeface="Aptos"/>
              </a:rPr>
              <a:t>Detects camera tilting and angular motion.</a:t>
            </a:r>
          </a:p>
          <a:p>
            <a:pPr algn="l"/>
            <a:r>
              <a:rPr sz="1400">
                <a:solidFill>
                  <a:srgbClr val="F0F6FF"/>
                </a:solidFill>
                <a:latin typeface="Aptos"/>
              </a:rPr>
              <a:t>Sends orientation feedback to the controller.</a:t>
            </a:r>
          </a:p>
          <a:p>
            <a:pPr algn="l"/>
            <a:r>
              <a:rPr sz="1400">
                <a:solidFill>
                  <a:srgbClr val="F0F6FF"/>
                </a:solidFill>
                <a:latin typeface="Aptos"/>
              </a:rPr>
              <a:t>The controller drives motors to resist unwanted motion.</a:t>
            </a:r>
          </a:p>
        </p:txBody>
      </p:sp>
      <p:sp>
        <p:nvSpPr>
          <p:cNvPr id="12" name="Oval 11"/>
          <p:cNvSpPr/>
          <p:nvPr/>
        </p:nvSpPr>
        <p:spPr>
          <a:xfrm>
            <a:off x="4389120" y="5029200"/>
            <a:ext cx="1280160" cy="1280160"/>
          </a:xfrm>
          <a:prstGeom prst="ellipse">
            <a:avLst/>
          </a:prstGeom>
          <a:solidFill>
            <a:srgbClr val="63B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138160" y="5029200"/>
            <a:ext cx="1645920" cy="1645920"/>
          </a:xfrm>
          <a:prstGeom prst="ellipse">
            <a:avLst/>
          </a:prstGeom>
          <a:solidFill>
            <a:srgbClr val="F6B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3D7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3D7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0F6FF"/>
                </a:solidFill>
                <a:latin typeface="Aptos"/>
              </a:rPr>
              <a:t>Precautions and Troubleshooting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25880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>
                <a:solidFill>
                  <a:srgbClr val="ABB8CB"/>
                </a:solidFill>
                <a:latin typeface="Aptos"/>
              </a:rPr>
              <a:t>Reliable operation and safety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303520" cy="3474720"/>
          </a:xfrm>
          <a:prstGeom prst="roundRect">
            <a:avLst/>
          </a:prstGeom>
          <a:solidFill>
            <a:srgbClr val="152334"/>
          </a:solidFill>
          <a:ln w="15240">
            <a:solidFill>
              <a:srgbClr val="3D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38528"/>
            <a:ext cx="49377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F0F6FF"/>
                </a:solidFill>
                <a:latin typeface="Aptos"/>
              </a:rPr>
              <a:t>MEMS Gyroscope Precautions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31720"/>
            <a:ext cx="4846320" cy="2724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F0F6FF"/>
                </a:solidFill>
                <a:latin typeface="Aptos"/>
              </a:rPr>
              <a:t>Sensitive to mechanical vibrations; mount on a damping pad.</a:t>
            </a:r>
          </a:p>
          <a:p>
            <a:pPr algn="l"/>
            <a:r>
              <a:rPr sz="1400">
                <a:solidFill>
                  <a:srgbClr val="F0F6FF"/>
                </a:solidFill>
                <a:latin typeface="Aptos"/>
              </a:rPr>
              <a:t>Keep sensor cabling short and shielded if possible.</a:t>
            </a:r>
          </a:p>
          <a:p>
            <a:pPr algn="l"/>
            <a:r>
              <a:rPr sz="1400">
                <a:solidFill>
                  <a:srgbClr val="F0F6FF"/>
                </a:solidFill>
                <a:latin typeface="Aptos"/>
              </a:rPr>
              <a:t>Avoid noisy power lines near the signal pins.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828800"/>
            <a:ext cx="5029200" cy="3474720"/>
          </a:xfrm>
          <a:prstGeom prst="roundRect">
            <a:avLst/>
          </a:prstGeom>
          <a:solidFill>
            <a:srgbClr val="152334"/>
          </a:solidFill>
          <a:ln w="15240">
            <a:solidFill>
              <a:srgbClr val="3D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938528"/>
            <a:ext cx="46634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F0F6FF"/>
                </a:solidFill>
                <a:latin typeface="Aptos"/>
              </a:rPr>
              <a:t>Transformer Precautions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331720"/>
            <a:ext cx="4572000" cy="2724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F0F6FF"/>
                </a:solidFill>
                <a:latin typeface="Aptos"/>
              </a:rPr>
              <a:t>Use proper insulation and heat dissipation.</a:t>
            </a:r>
          </a:p>
          <a:p>
            <a:pPr algn="l"/>
            <a:r>
              <a:rPr sz="1400">
                <a:solidFill>
                  <a:srgbClr val="F0F6FF"/>
                </a:solidFill>
                <a:latin typeface="Aptos"/>
              </a:rPr>
              <a:t>Keep it away from digital sensor wires to reduce EMI.</a:t>
            </a:r>
          </a:p>
          <a:p>
            <a:pPr algn="l"/>
            <a:r>
              <a:rPr sz="1400">
                <a:solidFill>
                  <a:srgbClr val="F0F6FF"/>
                </a:solidFill>
                <a:latin typeface="Aptos"/>
              </a:rPr>
              <a:t>Ensure airflow and avoid overheating.</a:t>
            </a:r>
          </a:p>
          <a:p>
            <a:pPr algn="l"/>
            <a:r>
              <a:rPr sz="1400">
                <a:solidFill>
                  <a:srgbClr val="F0F6FF"/>
                </a:solidFill>
                <a:latin typeface="Aptos"/>
              </a:rPr>
              <a:t>Install a fuse on the primary side for safety.</a:t>
            </a:r>
          </a:p>
        </p:txBody>
      </p:sp>
      <p:sp>
        <p:nvSpPr>
          <p:cNvPr id="12" name="Oval 11"/>
          <p:cNvSpPr/>
          <p:nvPr/>
        </p:nvSpPr>
        <p:spPr>
          <a:xfrm>
            <a:off x="2011680" y="5394960"/>
            <a:ext cx="640080" cy="640080"/>
          </a:xfrm>
          <a:prstGeom prst="ellipse">
            <a:avLst/>
          </a:prstGeom>
          <a:solidFill>
            <a:srgbClr val="3DB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955279" y="5394960"/>
            <a:ext cx="640080" cy="640080"/>
          </a:xfrm>
          <a:prstGeom prst="ellipse">
            <a:avLst/>
          </a:prstGeom>
          <a:solidFill>
            <a:srgbClr val="DF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3D7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3D7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0F6FF"/>
                </a:solidFill>
                <a:latin typeface="Aptos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25880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>
                <a:solidFill>
                  <a:srgbClr val="ABB8CB"/>
                </a:solidFill>
                <a:latin typeface="Aptos"/>
              </a:rPr>
              <a:t>Final summary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" y="1828800"/>
            <a:ext cx="5029200" cy="3657600"/>
          </a:xfrm>
          <a:prstGeom prst="roundRect">
            <a:avLst/>
          </a:prstGeom>
          <a:solidFill>
            <a:srgbClr val="152334"/>
          </a:solidFill>
          <a:ln w="15240">
            <a:solidFill>
              <a:srgbClr val="3D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1938528"/>
            <a:ext cx="46634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F0F6FF"/>
                </a:solidFill>
                <a:latin typeface="Aptos"/>
              </a:rPr>
              <a:t>System Roles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331720"/>
            <a:ext cx="4572000" cy="2907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F0F6FF"/>
                </a:solidFill>
                <a:latin typeface="Aptos"/>
              </a:rPr>
              <a:t>The 3-Axis MEMS Gyroscope is the “eyes” of the system, sensing orientation.</a:t>
            </a:r>
          </a:p>
          <a:p>
            <a:pPr algn="l"/>
            <a:r>
              <a:rPr sz="1400">
                <a:solidFill>
                  <a:srgbClr val="F0F6FF"/>
                </a:solidFill>
                <a:latin typeface="Aptos"/>
              </a:rPr>
              <a:t>The Mixed Step-Down Transformer is the “heart,” providing varied power levels.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828800"/>
            <a:ext cx="4846320" cy="3657600"/>
          </a:xfrm>
          <a:prstGeom prst="roundRect">
            <a:avLst/>
          </a:prstGeom>
          <a:solidFill>
            <a:srgbClr val="152334"/>
          </a:solidFill>
          <a:ln w="15240">
            <a:solidFill>
              <a:srgbClr val="3D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938528"/>
            <a:ext cx="44805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F0F6FF"/>
                </a:solidFill>
                <a:latin typeface="Aptos"/>
              </a:rPr>
              <a:t>Key Insight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331720"/>
            <a:ext cx="4389120" cy="2907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F0F6FF"/>
                </a:solidFill>
                <a:latin typeface="Aptos"/>
              </a:rPr>
              <a:t>Integrating them correctly requires clean AC-to-DC conversion and regulated voltages.</a:t>
            </a:r>
          </a:p>
          <a:p>
            <a:pPr algn="l"/>
            <a:r>
              <a:rPr sz="1400">
                <a:solidFill>
                  <a:srgbClr val="F0F6FF"/>
                </a:solidFill>
                <a:latin typeface="Aptos"/>
              </a:rPr>
              <a:t>This ensures both sensing accuracy and stable power delivery.</a:t>
            </a:r>
          </a:p>
          <a:p>
            <a:pPr algn="l"/>
            <a:r>
              <a:rPr sz="1400">
                <a:solidFill>
                  <a:srgbClr val="F0F6FF"/>
                </a:solidFill>
                <a:latin typeface="Aptos"/>
              </a:rPr>
              <a:t>The combined design enables reliable control in modern systems.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5486400"/>
            <a:ext cx="1828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63BFDB"/>
                </a:solidFill>
                <a:latin typeface="Aptos"/>
              </a:rP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